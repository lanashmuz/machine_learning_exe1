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EFF6E8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3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9966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96518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7306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957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9560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30551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9831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2299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251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7382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39904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8837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0394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12217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1940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38020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5422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B4EF5C61-CB00-400A-8D60-8D67D86CAF2F}" type="datetimeFigureOut">
              <a:rPr lang="en-GB" smtClean="0"/>
              <a:t>07/06/2026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FA875AF-D0E4-42BF-8E1E-4B38B400B47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5147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0" r:id="rId1"/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  <p:sldLayoutId id="2147483843" r:id="rId14"/>
    <p:sldLayoutId id="2147483844" r:id="rId15"/>
    <p:sldLayoutId id="2147483845" r:id="rId16"/>
    <p:sldLayoutId id="214748384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C09C2-449D-9D29-2A8A-2E25B0D45D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Answerability prediction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CEFBB-183E-4F8C-FEEE-359858F470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8726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9C7DE-0221-578D-1EE5-79930B299F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Problem: can the agent answer?</a:t>
            </a:r>
            <a:endParaRPr lang="en-GB" b="1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C05472-4E80-D2E1-A3B6-0B3EDB3F0552}"/>
              </a:ext>
            </a:extLst>
          </p:cNvPr>
          <p:cNvSpPr txBox="1">
            <a:spLocks/>
          </p:cNvSpPr>
          <p:nvPr/>
        </p:nvSpPr>
        <p:spPr>
          <a:xfrm>
            <a:off x="6701672" y="1825625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5D4FF4-A618-5E10-80E1-E6C66AE9138F}"/>
              </a:ext>
            </a:extLst>
          </p:cNvPr>
          <p:cNvSpPr txBox="1">
            <a:spLocks/>
          </p:cNvSpPr>
          <p:nvPr/>
        </p:nvSpPr>
        <p:spPr>
          <a:xfrm>
            <a:off x="5862687" y="1648790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ECE2C88-6E35-6411-2E87-9176C5A66D9E}"/>
              </a:ext>
            </a:extLst>
          </p:cNvPr>
          <p:cNvSpPr/>
          <p:nvPr/>
        </p:nvSpPr>
        <p:spPr>
          <a:xfrm>
            <a:off x="1065195" y="2263365"/>
            <a:ext cx="4130512" cy="3475858"/>
          </a:xfrm>
          <a:prstGeom prst="round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Objective</a:t>
            </a:r>
            <a:endParaRPr lang="en-US" sz="1600" cap="small" dirty="0">
              <a:solidFill>
                <a:schemeClr val="tx1"/>
              </a:soli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  <a:p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Improve reliability, preventing the agent from being overconfident. Giving it the ability to reject a prompt\ ask based on the users query.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Detect not </a:t>
            </a:r>
            <a:r>
              <a:rPr lang="en-US" sz="1600" cap="small" dirty="0" err="1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can_answer</a:t>
            </a: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Optimize resource allocation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Enhance users trust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2F7CECE-EC22-5C21-CDB1-04D0DB7169CE}"/>
              </a:ext>
            </a:extLst>
          </p:cNvPr>
          <p:cNvSpPr/>
          <p:nvPr/>
        </p:nvSpPr>
        <p:spPr>
          <a:xfrm>
            <a:off x="6230350" y="2263365"/>
            <a:ext cx="4130512" cy="3475858"/>
          </a:xfrm>
          <a:prstGeom prst="roundRect">
            <a:avLst/>
          </a:prstGeom>
          <a:solidFill>
            <a:srgbClr val="000000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Dataset </a:t>
            </a:r>
          </a:p>
          <a:p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A collection of over 3.4k task records measuring how compatible a prompt is to the domains of the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Binary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Benchmark being 64% live  tasks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cap="small" dirty="0">
                <a:solidFill>
                  <a:schemeClr val="tx1"/>
                </a:soli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</a:rPr>
              <a:t>Dominant domain: gender\other</a:t>
            </a:r>
            <a:endParaRPr lang="en-GB" sz="1600" cap="small" dirty="0">
              <a:solidFill>
                <a:schemeClr val="tx1"/>
              </a:solidFill>
              <a:effectLst>
                <a:glow rad="38100">
                  <a:schemeClr val="bg1">
                    <a:lumMod val="50000"/>
                    <a:lumOff val="50000"/>
                    <a:alpha val="20000"/>
                  </a:schemeClr>
                </a:glow>
                <a:outerShdw blurRad="44450" dist="12700" dir="13860000" algn="tl" rotWithShape="0">
                  <a:srgbClr val="000000">
                    <a:alpha val="20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2999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AC418-B6CE-143E-C8FF-9EDE379DA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179" y="714375"/>
            <a:ext cx="3332955" cy="5076826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Refusal insights</a:t>
            </a:r>
            <a:endParaRPr lang="en-GB" sz="4000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5136A9-49F9-4DA0-A741-F065B0FA0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33356" y="0"/>
            <a:ext cx="7558643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912F6C7-0423-4B6F-AECE-710C848918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446539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208205-03EE-4EC8-9C34-59270C1880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42336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9C84B-2A31-F9E7-09D8-3AB4ACC66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73046" y="714375"/>
            <a:ext cx="6253751" cy="5076825"/>
          </a:xfrm>
        </p:spPr>
        <p:txBody>
          <a:bodyPr>
            <a:normAutofit/>
          </a:bodyPr>
          <a:lstStyle/>
          <a:p>
            <a:endParaRPr lang="en-US">
              <a:solidFill>
                <a:schemeClr val="tx1"/>
              </a:solidFill>
            </a:endParaRPr>
          </a:p>
          <a:p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D93EF01-910E-58C5-274C-7297FE4FA447}"/>
              </a:ext>
            </a:extLst>
          </p:cNvPr>
          <p:cNvSpPr txBox="1">
            <a:spLocks/>
          </p:cNvSpPr>
          <p:nvPr/>
        </p:nvSpPr>
        <p:spPr>
          <a:xfrm>
            <a:off x="5792266" y="1439862"/>
            <a:ext cx="4421957" cy="43513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Weve observed that</a:t>
            </a:r>
            <a:endParaRPr lang="en-US" sz="1600" dirty="0"/>
          </a:p>
          <a:p>
            <a:r>
              <a:rPr lang="en-US" sz="1600" dirty="0"/>
              <a:t>The more </a:t>
            </a:r>
            <a:r>
              <a:rPr lang="en-US" sz="1600" b="1" dirty="0"/>
              <a:t>complex</a:t>
            </a:r>
            <a:r>
              <a:rPr lang="en-US" sz="1600" dirty="0"/>
              <a:t> the prompt the more prone it is to be “can answer”</a:t>
            </a:r>
          </a:p>
          <a:p>
            <a:r>
              <a:rPr lang="en-GB" sz="1600" b="1" dirty="0" err="1"/>
              <a:t>aspect_coverage_ratio</a:t>
            </a:r>
            <a:r>
              <a:rPr lang="en-GB" sz="1600" dirty="0"/>
              <a:t> is our strongest indicator if a query is answerable . Rejected queries rarely match tool’s aspects</a:t>
            </a:r>
            <a:endParaRPr lang="en-US" sz="1600" dirty="0"/>
          </a:p>
          <a:p>
            <a:r>
              <a:rPr lang="en-GB" sz="1600" b="1" dirty="0"/>
              <a:t>Data Noise</a:t>
            </a:r>
            <a:r>
              <a:rPr lang="he-IL" sz="1600" b="1" dirty="0"/>
              <a:t> </a:t>
            </a:r>
            <a:r>
              <a:rPr lang="en-GB" sz="1600" dirty="0"/>
              <a:t>In the "Other" domain</a:t>
            </a:r>
            <a:r>
              <a:rPr lang="he-IL" sz="1600" dirty="0"/>
              <a:t>  </a:t>
            </a:r>
            <a:r>
              <a:rPr lang="en-US" sz="1600" dirty="0" err="1"/>
              <a:t>tehres</a:t>
            </a:r>
            <a:r>
              <a:rPr lang="en-US" sz="1600" dirty="0"/>
              <a:t> no </a:t>
            </a:r>
            <a:r>
              <a:rPr lang="en-US" sz="1600" dirty="0" err="1"/>
              <a:t>predicrting</a:t>
            </a:r>
            <a:r>
              <a:rPr lang="en-US" sz="1600" dirty="0"/>
              <a:t> which aspects will turn us to refusal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667558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138CEDA-0C7F-4A0D-9089-CD1E70084A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4515367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B231A0-304E-4E17-94F9-17C05B0E7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4048959"/>
            <a:ext cx="12192000" cy="466406"/>
          </a:xfrm>
          <a:prstGeom prst="rect">
            <a:avLst/>
          </a:prstGeom>
          <a:gradFill>
            <a:gsLst>
              <a:gs pos="0">
                <a:schemeClr val="bg1">
                  <a:alpha val="50000"/>
                </a:schemeClr>
              </a:gs>
              <a:gs pos="100000">
                <a:srgbClr val="363D46">
                  <a:lumMod val="75000"/>
                  <a:alpha val="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3525D7-E53C-447D-B126-70F2345DB1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96" y="4515366"/>
            <a:ext cx="12192000" cy="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C666C0D5-A20D-A808-31C1-49AE10B9E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888" y="88527"/>
            <a:ext cx="6481073" cy="4193635"/>
          </a:xfrm>
          <a:prstGeom prst="rect">
            <a:avLst/>
          </a:prstGeom>
        </p:spPr>
      </p:pic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78B9D7C-579C-1856-8E39-20DB4A0E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0427375"/>
              </p:ext>
            </p:extLst>
          </p:nvPr>
        </p:nvGraphicFramePr>
        <p:xfrm>
          <a:off x="7190848" y="606543"/>
          <a:ext cx="4811860" cy="1966973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369449">
                  <a:extLst>
                    <a:ext uri="{9D8B030D-6E8A-4147-A177-3AD203B41FA5}">
                      <a16:colId xmlns:a16="http://schemas.microsoft.com/office/drawing/2014/main" val="3703669866"/>
                    </a:ext>
                  </a:extLst>
                </a:gridCol>
                <a:gridCol w="1093509">
                  <a:extLst>
                    <a:ext uri="{9D8B030D-6E8A-4147-A177-3AD203B41FA5}">
                      <a16:colId xmlns:a16="http://schemas.microsoft.com/office/drawing/2014/main" val="704636194"/>
                    </a:ext>
                  </a:extLst>
                </a:gridCol>
                <a:gridCol w="782425">
                  <a:extLst>
                    <a:ext uri="{9D8B030D-6E8A-4147-A177-3AD203B41FA5}">
                      <a16:colId xmlns:a16="http://schemas.microsoft.com/office/drawing/2014/main" val="2444234231"/>
                    </a:ext>
                  </a:extLst>
                </a:gridCol>
                <a:gridCol w="823449">
                  <a:extLst>
                    <a:ext uri="{9D8B030D-6E8A-4147-A177-3AD203B41FA5}">
                      <a16:colId xmlns:a16="http://schemas.microsoft.com/office/drawing/2014/main" val="132631571"/>
                    </a:ext>
                  </a:extLst>
                </a:gridCol>
                <a:gridCol w="871514">
                  <a:extLst>
                    <a:ext uri="{9D8B030D-6E8A-4147-A177-3AD203B41FA5}">
                      <a16:colId xmlns:a16="http://schemas.microsoft.com/office/drawing/2014/main" val="116675373"/>
                    </a:ext>
                  </a:extLst>
                </a:gridCol>
                <a:gridCol w="871514">
                  <a:extLst>
                    <a:ext uri="{9D8B030D-6E8A-4147-A177-3AD203B41FA5}">
                      <a16:colId xmlns:a16="http://schemas.microsoft.com/office/drawing/2014/main" val="2052860894"/>
                    </a:ext>
                  </a:extLst>
                </a:gridCol>
              </a:tblGrid>
              <a:tr h="348517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GB" sz="1050">
                        <a:effectLst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GB" sz="1050" dirty="0">
                          <a:effectLst/>
                        </a:rPr>
                        <a:t>Model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dirty="0">
                          <a:effectLst/>
                        </a:rPr>
                        <a:t>Accuracy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dirty="0">
                          <a:effectLst/>
                        </a:rPr>
                        <a:t>Precision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dirty="0">
                          <a:effectLst/>
                        </a:rPr>
                        <a:t>Recall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dirty="0">
                          <a:effectLst/>
                        </a:rPr>
                        <a:t>F1-Score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655261947"/>
                  </a:ext>
                </a:extLst>
              </a:tr>
              <a:tr h="4046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b="0" dirty="0">
                          <a:effectLst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Baseline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b="1" dirty="0">
                          <a:effectLst/>
                        </a:rPr>
                        <a:t>67.7 %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0.677143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effectLst/>
                        </a:rPr>
                        <a:t>1.000000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0.807496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307038135"/>
                  </a:ext>
                </a:extLst>
              </a:tr>
              <a:tr h="4046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b="0" dirty="0">
                          <a:effectLst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KNN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b="1" dirty="0">
                          <a:effectLst/>
                        </a:rPr>
                        <a:t>82.8 %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0.841699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0.919831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0.879032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604233230"/>
                  </a:ext>
                </a:extLst>
              </a:tr>
              <a:tr h="4046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b="0" dirty="0">
                          <a:effectLst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AdaBoost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b="1" dirty="0">
                          <a:effectLst/>
                        </a:rPr>
                        <a:t>87.7 %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effectLst/>
                        </a:rPr>
                        <a:t>0.867424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0.966245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0.914172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970700451"/>
                  </a:ext>
                </a:extLst>
              </a:tr>
              <a:tr h="40461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050" b="0" dirty="0">
                          <a:effectLst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Random Forest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b="1" dirty="0">
                          <a:effectLst/>
                        </a:rPr>
                        <a:t>90.8 %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effectLst/>
                        </a:rPr>
                        <a:t>0.908367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>
                          <a:effectLst/>
                        </a:rPr>
                        <a:t>0.962025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effectLst/>
                        </a:rPr>
                        <a:t>0.934426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04940953"/>
                  </a:ext>
                </a:extLst>
              </a:tr>
            </a:tbl>
          </a:graphicData>
        </a:graphic>
      </p:graphicFrame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3E043C1C-8E12-ACF5-345B-3DF394C27A98}"/>
              </a:ext>
            </a:extLst>
          </p:cNvPr>
          <p:cNvSpPr txBox="1">
            <a:spLocks/>
          </p:cNvSpPr>
          <p:nvPr/>
        </p:nvSpPr>
        <p:spPr>
          <a:xfrm>
            <a:off x="5961947" y="4888705"/>
            <a:ext cx="5218240" cy="136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 err="1"/>
              <a:t>Hyperparamater</a:t>
            </a:r>
            <a:r>
              <a:rPr lang="en-US" dirty="0"/>
              <a:t> tuning shows 200 estimators and 20 depth as the optimal shape for handling the features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2AC65F2-DC52-A04E-A9B4-6BB8E49303AC}"/>
              </a:ext>
            </a:extLst>
          </p:cNvPr>
          <p:cNvSpPr txBox="1">
            <a:spLocks/>
          </p:cNvSpPr>
          <p:nvPr/>
        </p:nvSpPr>
        <p:spPr>
          <a:xfrm>
            <a:off x="484976" y="4888706"/>
            <a:ext cx="5218240" cy="12104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Fandom forest </a:t>
            </a:r>
            <a:r>
              <a:rPr lang="en-US" dirty="0"/>
              <a:t>is our top achieving tree with 90.8%accuracy and 0.93 F1 score, and a balance between recall and </a:t>
            </a:r>
            <a:r>
              <a:rPr lang="en-US" dirty="0" err="1"/>
              <a:t>presicion</a:t>
            </a:r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AD6CA0E-A1AD-59FA-67EA-ADD8C4C545D7}"/>
              </a:ext>
            </a:extLst>
          </p:cNvPr>
          <p:cNvSpPr txBox="1">
            <a:spLocks/>
          </p:cNvSpPr>
          <p:nvPr/>
        </p:nvSpPr>
        <p:spPr>
          <a:xfrm>
            <a:off x="7017980" y="3146464"/>
            <a:ext cx="5174019" cy="7090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dirty="0">
                <a:solidFill>
                  <a:schemeClr val="tx1"/>
                </a:solidFill>
                <a:effectLst/>
              </a:rPr>
              <a:t>Best RF Params: {'</a:t>
            </a:r>
            <a:r>
              <a:rPr lang="en-GB" dirty="0" err="1">
                <a:solidFill>
                  <a:schemeClr val="tx1"/>
                </a:solidFill>
                <a:effectLst/>
              </a:rPr>
              <a:t>n_estimators</a:t>
            </a:r>
            <a:r>
              <a:rPr lang="en-GB" dirty="0">
                <a:solidFill>
                  <a:schemeClr val="tx1"/>
                </a:solidFill>
                <a:effectLst/>
              </a:rPr>
              <a:t>': 200, '</a:t>
            </a:r>
            <a:r>
              <a:rPr lang="en-GB" dirty="0" err="1">
                <a:solidFill>
                  <a:schemeClr val="tx1"/>
                </a:solidFill>
                <a:effectLst/>
              </a:rPr>
              <a:t>max_depth</a:t>
            </a:r>
            <a:r>
              <a:rPr lang="en-GB" dirty="0">
                <a:solidFill>
                  <a:schemeClr val="tx1"/>
                </a:solidFill>
                <a:effectLst/>
              </a:rPr>
              <a:t>': 20} </a:t>
            </a:r>
          </a:p>
          <a:p>
            <a:pPr marL="0" indent="0">
              <a:buNone/>
            </a:pPr>
            <a:br>
              <a:rPr lang="en-GB" sz="1600" dirty="0"/>
            </a:b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4920262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690F3EE-0CD1-4520-B020-4E1DF3141C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EFDE1E9-7FE0-45CA-9DE2-237F77319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2000" cy="2270840"/>
          </a:xfrm>
          <a:custGeom>
            <a:avLst/>
            <a:gdLst>
              <a:gd name="connsiteX0" fmla="*/ 0 w 12192000"/>
              <a:gd name="connsiteY0" fmla="*/ 0 h 2270840"/>
              <a:gd name="connsiteX1" fmla="*/ 12192000 w 12192000"/>
              <a:gd name="connsiteY1" fmla="*/ 0 h 2270840"/>
              <a:gd name="connsiteX2" fmla="*/ 12192000 w 12192000"/>
              <a:gd name="connsiteY2" fmla="*/ 519831 h 2270840"/>
              <a:gd name="connsiteX3" fmla="*/ 12192000 w 12192000"/>
              <a:gd name="connsiteY3" fmla="*/ 744794 h 2270840"/>
              <a:gd name="connsiteX4" fmla="*/ 12192000 w 12192000"/>
              <a:gd name="connsiteY4" fmla="*/ 1754022 h 2270840"/>
              <a:gd name="connsiteX5" fmla="*/ 11957522 w 12192000"/>
              <a:gd name="connsiteY5" fmla="*/ 1797924 h 2270840"/>
              <a:gd name="connsiteX6" fmla="*/ 11679973 w 12192000"/>
              <a:gd name="connsiteY6" fmla="*/ 1847668 h 2270840"/>
              <a:gd name="connsiteX7" fmla="*/ 11401197 w 12192000"/>
              <a:gd name="connsiteY7" fmla="*/ 1896361 h 2270840"/>
              <a:gd name="connsiteX8" fmla="*/ 11121192 w 12192000"/>
              <a:gd name="connsiteY8" fmla="*/ 1938047 h 2270840"/>
              <a:gd name="connsiteX9" fmla="*/ 10842416 w 12192000"/>
              <a:gd name="connsiteY9" fmla="*/ 1980084 h 2270840"/>
              <a:gd name="connsiteX10" fmla="*/ 10562411 w 12192000"/>
              <a:gd name="connsiteY10" fmla="*/ 2019319 h 2270840"/>
              <a:gd name="connsiteX11" fmla="*/ 10286091 w 12192000"/>
              <a:gd name="connsiteY11" fmla="*/ 2052948 h 2270840"/>
              <a:gd name="connsiteX12" fmla="*/ 10006086 w 12192000"/>
              <a:gd name="connsiteY12" fmla="*/ 2084826 h 2270840"/>
              <a:gd name="connsiteX13" fmla="*/ 9727310 w 12192000"/>
              <a:gd name="connsiteY13" fmla="*/ 2113902 h 2270840"/>
              <a:gd name="connsiteX14" fmla="*/ 9453445 w 12192000"/>
              <a:gd name="connsiteY14" fmla="*/ 2139124 h 2270840"/>
              <a:gd name="connsiteX15" fmla="*/ 9175897 w 12192000"/>
              <a:gd name="connsiteY15" fmla="*/ 2164346 h 2270840"/>
              <a:gd name="connsiteX16" fmla="*/ 8902033 w 12192000"/>
              <a:gd name="connsiteY16" fmla="*/ 2185365 h 2270840"/>
              <a:gd name="connsiteX17" fmla="*/ 8628169 w 12192000"/>
              <a:gd name="connsiteY17" fmla="*/ 2201829 h 2270840"/>
              <a:gd name="connsiteX18" fmla="*/ 8355533 w 12192000"/>
              <a:gd name="connsiteY18" fmla="*/ 2218995 h 2270840"/>
              <a:gd name="connsiteX19" fmla="*/ 8085353 w 12192000"/>
              <a:gd name="connsiteY19" fmla="*/ 2233357 h 2270840"/>
              <a:gd name="connsiteX20" fmla="*/ 7817629 w 12192000"/>
              <a:gd name="connsiteY20" fmla="*/ 2243516 h 2270840"/>
              <a:gd name="connsiteX21" fmla="*/ 7549905 w 12192000"/>
              <a:gd name="connsiteY21" fmla="*/ 2252274 h 2270840"/>
              <a:gd name="connsiteX22" fmla="*/ 7284638 w 12192000"/>
              <a:gd name="connsiteY22" fmla="*/ 2260681 h 2270840"/>
              <a:gd name="connsiteX23" fmla="*/ 7023055 w 12192000"/>
              <a:gd name="connsiteY23" fmla="*/ 2264535 h 2270840"/>
              <a:gd name="connsiteX24" fmla="*/ 6761472 w 12192000"/>
              <a:gd name="connsiteY24" fmla="*/ 2268738 h 2270840"/>
              <a:gd name="connsiteX25" fmla="*/ 6503573 w 12192000"/>
              <a:gd name="connsiteY25" fmla="*/ 2270840 h 2270840"/>
              <a:gd name="connsiteX26" fmla="*/ 6248130 w 12192000"/>
              <a:gd name="connsiteY26" fmla="*/ 2268738 h 2270840"/>
              <a:gd name="connsiteX27" fmla="*/ 5995144 w 12192000"/>
              <a:gd name="connsiteY27" fmla="*/ 2268738 h 2270840"/>
              <a:gd name="connsiteX28" fmla="*/ 5744613 w 12192000"/>
              <a:gd name="connsiteY28" fmla="*/ 2264535 h 2270840"/>
              <a:gd name="connsiteX29" fmla="*/ 5498995 w 12192000"/>
              <a:gd name="connsiteY29" fmla="*/ 2258229 h 2270840"/>
              <a:gd name="connsiteX30" fmla="*/ 5255834 w 12192000"/>
              <a:gd name="connsiteY30" fmla="*/ 2252274 h 2270840"/>
              <a:gd name="connsiteX31" fmla="*/ 5017584 w 12192000"/>
              <a:gd name="connsiteY31" fmla="*/ 2245618 h 2270840"/>
              <a:gd name="connsiteX32" fmla="*/ 4780562 w 12192000"/>
              <a:gd name="connsiteY32" fmla="*/ 2235459 h 2270840"/>
              <a:gd name="connsiteX33" fmla="*/ 4547227 w 12192000"/>
              <a:gd name="connsiteY33" fmla="*/ 2224599 h 2270840"/>
              <a:gd name="connsiteX34" fmla="*/ 4318800 w 12192000"/>
              <a:gd name="connsiteY34" fmla="*/ 2214791 h 2270840"/>
              <a:gd name="connsiteX35" fmla="*/ 3873004 w 12192000"/>
              <a:gd name="connsiteY35" fmla="*/ 2187116 h 2270840"/>
              <a:gd name="connsiteX36" fmla="*/ 3445628 w 12192000"/>
              <a:gd name="connsiteY36" fmla="*/ 2157691 h 2270840"/>
              <a:gd name="connsiteX37" fmla="*/ 3035446 w 12192000"/>
              <a:gd name="connsiteY37" fmla="*/ 2126863 h 2270840"/>
              <a:gd name="connsiteX38" fmla="*/ 2647370 w 12192000"/>
              <a:gd name="connsiteY38" fmla="*/ 2092884 h 2270840"/>
              <a:gd name="connsiteX39" fmla="*/ 2276487 w 12192000"/>
              <a:gd name="connsiteY39" fmla="*/ 2057502 h 2270840"/>
              <a:gd name="connsiteX40" fmla="*/ 1932621 w 12192000"/>
              <a:gd name="connsiteY40" fmla="*/ 2019319 h 2270840"/>
              <a:gd name="connsiteX41" fmla="*/ 1609634 w 12192000"/>
              <a:gd name="connsiteY41" fmla="*/ 1981836 h 2270840"/>
              <a:gd name="connsiteX42" fmla="*/ 1312435 w 12192000"/>
              <a:gd name="connsiteY42" fmla="*/ 1944353 h 2270840"/>
              <a:gd name="connsiteX43" fmla="*/ 1039799 w 12192000"/>
              <a:gd name="connsiteY43" fmla="*/ 1908972 h 2270840"/>
              <a:gd name="connsiteX44" fmla="*/ 797865 w 12192000"/>
              <a:gd name="connsiteY44" fmla="*/ 1875342 h 2270840"/>
              <a:gd name="connsiteX45" fmla="*/ 579265 w 12192000"/>
              <a:gd name="connsiteY45" fmla="*/ 1843464 h 2270840"/>
              <a:gd name="connsiteX46" fmla="*/ 395052 w 12192000"/>
              <a:gd name="connsiteY46" fmla="*/ 1816841 h 2270840"/>
              <a:gd name="connsiteX47" fmla="*/ 240312 w 12192000"/>
              <a:gd name="connsiteY47" fmla="*/ 1791618 h 2270840"/>
              <a:gd name="connsiteX48" fmla="*/ 27853 w 12192000"/>
              <a:gd name="connsiteY48" fmla="*/ 1755537 h 2270840"/>
              <a:gd name="connsiteX49" fmla="*/ 0 w 12192000"/>
              <a:gd name="connsiteY49" fmla="*/ 1750824 h 2270840"/>
              <a:gd name="connsiteX50" fmla="*/ 0 w 12192000"/>
              <a:gd name="connsiteY50" fmla="*/ 744794 h 2270840"/>
              <a:gd name="connsiteX51" fmla="*/ 0 w 12192000"/>
              <a:gd name="connsiteY51" fmla="*/ 519831 h 2270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2192000" h="2270840">
                <a:moveTo>
                  <a:pt x="0" y="0"/>
                </a:moveTo>
                <a:lnTo>
                  <a:pt x="12192000" y="0"/>
                </a:lnTo>
                <a:lnTo>
                  <a:pt x="12192000" y="519831"/>
                </a:lnTo>
                <a:lnTo>
                  <a:pt x="12192000" y="744794"/>
                </a:lnTo>
                <a:lnTo>
                  <a:pt x="12192000" y="1754022"/>
                </a:lnTo>
                <a:lnTo>
                  <a:pt x="11957522" y="1797924"/>
                </a:lnTo>
                <a:lnTo>
                  <a:pt x="11679973" y="1847668"/>
                </a:lnTo>
                <a:lnTo>
                  <a:pt x="11401197" y="1896361"/>
                </a:lnTo>
                <a:lnTo>
                  <a:pt x="11121192" y="1938047"/>
                </a:lnTo>
                <a:lnTo>
                  <a:pt x="10842416" y="1980084"/>
                </a:lnTo>
                <a:lnTo>
                  <a:pt x="10562411" y="2019319"/>
                </a:lnTo>
                <a:lnTo>
                  <a:pt x="10286091" y="2052948"/>
                </a:lnTo>
                <a:lnTo>
                  <a:pt x="10006086" y="2084826"/>
                </a:lnTo>
                <a:lnTo>
                  <a:pt x="9727310" y="2113902"/>
                </a:lnTo>
                <a:lnTo>
                  <a:pt x="9453445" y="2139124"/>
                </a:lnTo>
                <a:lnTo>
                  <a:pt x="9175897" y="2164346"/>
                </a:lnTo>
                <a:lnTo>
                  <a:pt x="8902033" y="2185365"/>
                </a:lnTo>
                <a:lnTo>
                  <a:pt x="8628169" y="2201829"/>
                </a:lnTo>
                <a:lnTo>
                  <a:pt x="8355533" y="2218995"/>
                </a:lnTo>
                <a:lnTo>
                  <a:pt x="8085353" y="2233357"/>
                </a:lnTo>
                <a:lnTo>
                  <a:pt x="7817629" y="2243516"/>
                </a:lnTo>
                <a:lnTo>
                  <a:pt x="7549905" y="2252274"/>
                </a:lnTo>
                <a:lnTo>
                  <a:pt x="7284638" y="2260681"/>
                </a:lnTo>
                <a:lnTo>
                  <a:pt x="7023055" y="2264535"/>
                </a:lnTo>
                <a:lnTo>
                  <a:pt x="6761472" y="2268738"/>
                </a:lnTo>
                <a:lnTo>
                  <a:pt x="6503573" y="2270840"/>
                </a:lnTo>
                <a:lnTo>
                  <a:pt x="6248130" y="2268738"/>
                </a:lnTo>
                <a:lnTo>
                  <a:pt x="5995144" y="2268738"/>
                </a:lnTo>
                <a:lnTo>
                  <a:pt x="5744613" y="2264535"/>
                </a:lnTo>
                <a:lnTo>
                  <a:pt x="5498995" y="2258229"/>
                </a:lnTo>
                <a:lnTo>
                  <a:pt x="5255834" y="2252274"/>
                </a:lnTo>
                <a:lnTo>
                  <a:pt x="5017584" y="2245618"/>
                </a:lnTo>
                <a:lnTo>
                  <a:pt x="4780562" y="2235459"/>
                </a:lnTo>
                <a:lnTo>
                  <a:pt x="4547227" y="2224599"/>
                </a:lnTo>
                <a:lnTo>
                  <a:pt x="4318800" y="2214791"/>
                </a:lnTo>
                <a:lnTo>
                  <a:pt x="3873004" y="2187116"/>
                </a:lnTo>
                <a:lnTo>
                  <a:pt x="3445628" y="2157691"/>
                </a:lnTo>
                <a:lnTo>
                  <a:pt x="3035446" y="2126863"/>
                </a:lnTo>
                <a:lnTo>
                  <a:pt x="2647370" y="2092884"/>
                </a:lnTo>
                <a:lnTo>
                  <a:pt x="2276487" y="2057502"/>
                </a:lnTo>
                <a:lnTo>
                  <a:pt x="1932621" y="2019319"/>
                </a:lnTo>
                <a:lnTo>
                  <a:pt x="1609634" y="1981836"/>
                </a:lnTo>
                <a:lnTo>
                  <a:pt x="1312435" y="1944353"/>
                </a:lnTo>
                <a:lnTo>
                  <a:pt x="1039799" y="1908972"/>
                </a:lnTo>
                <a:lnTo>
                  <a:pt x="797865" y="1875342"/>
                </a:lnTo>
                <a:lnTo>
                  <a:pt x="579265" y="1843464"/>
                </a:lnTo>
                <a:lnTo>
                  <a:pt x="395052" y="1816841"/>
                </a:lnTo>
                <a:lnTo>
                  <a:pt x="240312" y="1791618"/>
                </a:lnTo>
                <a:lnTo>
                  <a:pt x="27853" y="1755537"/>
                </a:lnTo>
                <a:lnTo>
                  <a:pt x="0" y="1750824"/>
                </a:lnTo>
                <a:lnTo>
                  <a:pt x="0" y="744794"/>
                </a:lnTo>
                <a:lnTo>
                  <a:pt x="0" y="519831"/>
                </a:lnTo>
                <a:close/>
              </a:path>
            </a:pathLst>
          </a:custGeom>
          <a:ln w="44450">
            <a:gradFill>
              <a:gsLst>
                <a:gs pos="0">
                  <a:schemeClr val="bg2">
                    <a:alpha val="65000"/>
                  </a:schemeClr>
                </a:gs>
                <a:gs pos="98000">
                  <a:schemeClr val="bg2">
                    <a:lumMod val="75000"/>
                    <a:alpha val="55000"/>
                  </a:schemeClr>
                </a:gs>
              </a:gsLst>
              <a:lin ang="5400000" scaled="1"/>
            </a:gradFill>
          </a:ln>
          <a:effectLst>
            <a:outerShdw blurRad="50800" dist="38100" dir="5400000" algn="t" rotWithShape="0">
              <a:prstClr val="black">
                <a:alpha val="5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E9F9D0-2793-E44C-5684-582DAADEB4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173480"/>
          </a:xfrm>
        </p:spPr>
        <p:txBody>
          <a:bodyPr>
            <a:normAutofit/>
          </a:bodyPr>
          <a:lstStyle/>
          <a:p>
            <a:pPr algn="ctr"/>
            <a:r>
              <a:rPr lang="en-US" b="1" dirty="0"/>
              <a:t>clustering</a:t>
            </a:r>
            <a:endParaRPr lang="en-GB" b="1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FD1615-B603-326A-5A32-F2F0051507F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005399"/>
              </p:ext>
            </p:extLst>
          </p:nvPr>
        </p:nvGraphicFramePr>
        <p:xfrm>
          <a:off x="1047145" y="2392681"/>
          <a:ext cx="10535397" cy="1859280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1992855441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77625228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1857189033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3943478546"/>
                    </a:ext>
                  </a:extLst>
                </a:gridCol>
                <a:gridCol w="3403077">
                  <a:extLst>
                    <a:ext uri="{9D8B030D-6E8A-4147-A177-3AD203B41FA5}">
                      <a16:colId xmlns:a16="http://schemas.microsoft.com/office/drawing/2014/main" val="4014212960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br>
                        <a:rPr lang="en-GB" sz="1400" dirty="0">
                          <a:effectLst/>
                        </a:rPr>
                      </a:br>
                      <a:r>
                        <a:rPr lang="en-GB" sz="1400" dirty="0">
                          <a:effectLst/>
                        </a:rPr>
                        <a:t>cluster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size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answer rate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key pattern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GB" sz="1400" dirty="0">
                          <a:effectLst/>
                        </a:rPr>
                        <a:t>descriptive name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08141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>
                          <a:effectLst/>
                        </a:rPr>
                        <a:t>1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0.0%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Low aspect coverage, zero Jaccard similarity, ...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Unmatched / Refusal Candidates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4233881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>
                          <a:effectLst/>
                        </a:rPr>
                        <a:t>0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2555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65.6%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High tool count, high params, long complex que...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Complex Multi-Tool Scenarios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4478889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2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933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400" dirty="0">
                          <a:effectLst/>
                        </a:rPr>
                        <a:t>74.0%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>
                          <a:effectLst/>
                        </a:rPr>
                        <a:t>High aspect coverage, few tools, direct token ...</a:t>
                      </a: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>
                          <a:effectLst/>
                        </a:rPr>
                        <a:t>Simple Direct Matches</a:t>
                      </a: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4197678085"/>
                  </a:ext>
                </a:extLst>
              </a:tr>
            </a:tbl>
          </a:graphicData>
        </a:graphic>
      </p:graphicFrame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CF7EE47-944B-89A6-068C-7C8B5C086B00}"/>
              </a:ext>
            </a:extLst>
          </p:cNvPr>
          <p:cNvSpPr txBox="1">
            <a:spLocks/>
          </p:cNvSpPr>
          <p:nvPr/>
        </p:nvSpPr>
        <p:spPr>
          <a:xfrm>
            <a:off x="546754" y="4775583"/>
            <a:ext cx="11246177" cy="136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marL="2857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20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8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2pPr>
            <a:lvl3pPr marL="1200150" indent="-2857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6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3pPr>
            <a:lvl4pPr marL="15430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4pPr>
            <a:lvl5pPr marL="2000250" indent="-17145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4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100000"/>
              <a:buFont typeface="Arial"/>
              <a:buChar char="•"/>
              <a:defRPr sz="1200" kern="1200" cap="sm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580000" scaled="0"/>
                  <a:tileRect/>
                </a:gradFill>
                <a:effectLst>
                  <a:glow rad="38100">
                    <a:schemeClr val="bg1">
                      <a:lumMod val="50000"/>
                      <a:lumOff val="50000"/>
                      <a:alpha val="20000"/>
                    </a:schemeClr>
                  </a:glow>
                  <a:outerShdw blurRad="44450" dist="12700" dir="13860000" algn="tl" rotWithShape="0">
                    <a:srgbClr val="000000">
                      <a:alpha val="20000"/>
                    </a:srgb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We know that lower token similarity is a strong indicator for refusal to answer and so We isolated the pure refusal group, which will have 0% answerable rate, using ward linkage clustering. Picking those with token </a:t>
            </a:r>
            <a:r>
              <a:rPr lang="en-US" dirty="0" err="1"/>
              <a:t>jaccard</a:t>
            </a:r>
            <a:r>
              <a:rPr lang="en-US" dirty="0"/>
              <a:t> →0 meaning it has almost no overlap between the user’s words and the tokens.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77848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28000"/>
                <a:satMod val="94000"/>
                <a:lumMod val="20000"/>
              </a:schemeClr>
              <a:schemeClr val="bg2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05ED6-164E-6ED4-97AB-B7B5A62CD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9851" y="1430179"/>
            <a:ext cx="3029313" cy="3675908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summary</a:t>
            </a:r>
            <a:endParaRPr lang="en-GB" sz="4000" b="1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475056-B0EB-44BE-8568-61ABEFB2E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4" y="0"/>
            <a:ext cx="8132066" cy="6858000"/>
          </a:xfrm>
          <a:prstGeom prst="rect">
            <a:avLst/>
          </a:prstGeom>
          <a:solidFill>
            <a:schemeClr val="bg2"/>
          </a:solidFill>
          <a:ln>
            <a:noFill/>
          </a:ln>
          <a:effectLst>
            <a:innerShdw blurRad="63500" dist="50800" dir="10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2C8E2EC-73A4-48C2-B4D7-D7726BD908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69971" y="0"/>
            <a:ext cx="0" cy="6858000"/>
          </a:xfrm>
          <a:prstGeom prst="line">
            <a:avLst/>
          </a:prstGeom>
          <a:solidFill>
            <a:srgbClr val="FFFFFF"/>
          </a:solidFill>
          <a:ln w="38100" cap="flat">
            <a:gradFill flip="none" rotWithShape="1">
              <a:gsLst>
                <a:gs pos="0">
                  <a:srgbClr val="363D46"/>
                </a:gs>
                <a:gs pos="100000">
                  <a:srgbClr val="363D46">
                    <a:lumMod val="75000"/>
                  </a:srgbClr>
                </a:gs>
              </a:gsLst>
              <a:lin ang="5400000" scaled="0"/>
              <a:tileRect/>
            </a:gra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82ABBDC-7A44-4AE8-A04F-B5495481B9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894952" y="3195797"/>
            <a:ext cx="6858000" cy="466406"/>
          </a:xfrm>
          <a:prstGeom prst="rect">
            <a:avLst/>
          </a:prstGeom>
          <a:gradFill>
            <a:gsLst>
              <a:gs pos="0">
                <a:srgbClr val="363D46">
                  <a:alpha val="0"/>
                </a:srgbClr>
              </a:gs>
              <a:gs pos="100000">
                <a:srgbClr val="363D46">
                  <a:lumMod val="75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24BF29-434D-AAB1-392E-1D35284C295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11282493"/>
              </p:ext>
            </p:extLst>
          </p:nvPr>
        </p:nvGraphicFramePr>
        <p:xfrm>
          <a:off x="5054375" y="1998535"/>
          <a:ext cx="6046134" cy="3087726"/>
        </p:xfrm>
        <a:graphic>
          <a:graphicData uri="http://schemas.openxmlformats.org/drawingml/2006/table">
            <a:tbl>
              <a:tblPr firstRow="1" bandRow="1">
                <a:tableStyleId>{0660B408-B3CF-4A94-85FC-2B1E0A45F4A2}</a:tableStyleId>
              </a:tblPr>
              <a:tblGrid>
                <a:gridCol w="1760343">
                  <a:extLst>
                    <a:ext uri="{9D8B030D-6E8A-4147-A177-3AD203B41FA5}">
                      <a16:colId xmlns:a16="http://schemas.microsoft.com/office/drawing/2014/main" val="4130571992"/>
                    </a:ext>
                  </a:extLst>
                </a:gridCol>
                <a:gridCol w="4285791">
                  <a:extLst>
                    <a:ext uri="{9D8B030D-6E8A-4147-A177-3AD203B41FA5}">
                      <a16:colId xmlns:a16="http://schemas.microsoft.com/office/drawing/2014/main" val="3030552245"/>
                    </a:ext>
                  </a:extLst>
                </a:gridCol>
              </a:tblGrid>
              <a:tr h="473410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2100" b="0" kern="12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Best model</a:t>
                      </a:r>
                      <a:endParaRPr lang="en-GB" sz="2100" b="0" kern="12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7593" marR="107593" marT="53797" marB="53797"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n-US" sz="2100" b="0" kern="12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Random forest - 90.8% accuracy</a:t>
                      </a:r>
                      <a:endParaRPr lang="en-GB" sz="2100" b="0" kern="12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07593" marR="107593" marT="53797" marB="53797"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6902998"/>
                  </a:ext>
                </a:extLst>
              </a:tr>
              <a:tr h="796189">
                <a:tc>
                  <a:txBody>
                    <a:bodyPr/>
                    <a:lstStyle/>
                    <a:p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Main metric</a:t>
                      </a:r>
                      <a:endParaRPr lang="en-GB" sz="21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chemeClr val="tx1">
                        <a:alpha val="30196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F1 score</a:t>
                      </a:r>
                      <a:r>
                        <a:rPr lang="he-IL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 0.934</a:t>
                      </a:r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 – robust to class imbalance</a:t>
                      </a:r>
                      <a:endParaRPr lang="en-GB" sz="21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chemeClr val="tx1">
                        <a:alpha val="30196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77339"/>
                  </a:ext>
                </a:extLst>
              </a:tr>
              <a:tr h="473410">
                <a:tc>
                  <a:txBody>
                    <a:bodyPr/>
                    <a:lstStyle/>
                    <a:p>
                      <a:r>
                        <a:rPr lang="en-US" sz="210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Critical error</a:t>
                      </a:r>
                      <a:endParaRPr lang="en-GB" sz="210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rgbClr val="000000">
                        <a:alpha val="30196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False positive</a:t>
                      </a:r>
                      <a:endParaRPr lang="en-GB" sz="21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rgbClr val="000000">
                        <a:alpha val="30196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2165078"/>
                  </a:ext>
                </a:extLst>
              </a:tr>
              <a:tr h="796189">
                <a:tc>
                  <a:txBody>
                    <a:bodyPr/>
                    <a:lstStyle/>
                    <a:p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Data noise</a:t>
                      </a:r>
                      <a:endParaRPr lang="en-GB" sz="21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chemeClr val="tx1">
                        <a:alpha val="30196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Too many of “other”  domain, </a:t>
                      </a:r>
                      <a:r>
                        <a:rPr lang="en-US" sz="2100" dirty="0" err="1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thowing</a:t>
                      </a:r>
                      <a:r>
                        <a:rPr lang="en-US" sz="2100" dirty="0">
                          <a:ln>
                            <a:solidFill>
                              <a:schemeClr val="tx1"/>
                            </a:solidFill>
                          </a:ln>
                          <a:solidFill>
                            <a:schemeClr val="tx1"/>
                          </a:solidFill>
                        </a:rPr>
                        <a:t> off the system</a:t>
                      </a:r>
                      <a:endParaRPr lang="en-GB" sz="2100" dirty="0">
                        <a:ln>
                          <a:solidFill>
                            <a:schemeClr val="tx1"/>
                          </a:solidFill>
                        </a:ln>
                        <a:solidFill>
                          <a:schemeClr val="tx1"/>
                        </a:solidFill>
                      </a:endParaRPr>
                    </a:p>
                  </a:txBody>
                  <a:tcPr marL="107593" marR="107593" marT="53797" marB="53797">
                    <a:solidFill>
                      <a:schemeClr val="tx1">
                        <a:alpha val="30196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385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67887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Mesh">
  <a:themeElements>
    <a:clrScheme name="Green Yellow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953</TotalTime>
  <Words>388</Words>
  <Application>Microsoft Office PowerPoint</Application>
  <PresentationFormat>Widescreen</PresentationFormat>
  <Paragraphs>81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Century Gothic</vt:lpstr>
      <vt:lpstr>Mesh</vt:lpstr>
      <vt:lpstr>Answerability prediction</vt:lpstr>
      <vt:lpstr>Problem: can the agent answer?</vt:lpstr>
      <vt:lpstr>Refusal insights</vt:lpstr>
      <vt:lpstr>PowerPoint Presentation</vt:lpstr>
      <vt:lpstr>clustering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Lana Ashmuz</dc:creator>
  <cp:lastModifiedBy>Lana Ashmuz</cp:lastModifiedBy>
  <cp:revision>15</cp:revision>
  <dcterms:created xsi:type="dcterms:W3CDTF">2026-06-07T18:58:06Z</dcterms:created>
  <dcterms:modified xsi:type="dcterms:W3CDTF">2026-06-08T10:51:13Z</dcterms:modified>
</cp:coreProperties>
</file>